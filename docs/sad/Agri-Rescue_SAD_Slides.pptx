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223760" y="-1097280"/>
            <a:ext cx="6400800" cy="6400800"/>
          </a:xfrm>
          <a:prstGeom prst="ellipse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3291840"/>
            <a:ext cx="4572000" cy="4572000"/>
          </a:xfrm>
          <a:prstGeom prst="ellipse">
            <a:avLst/>
          </a:prstGeom>
          <a:solidFill>
            <a:srgbClr val="3D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600" b="1">
                <a:solidFill>
                  <a:srgbClr val="BFD6C2"/>
                </a:solidFill>
                <a:latin typeface="Tahoma"/>
              </a:rPr>
              <a:t>รายงานวิชา System Analysis &amp;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Tahoma"/>
              </a:rPr>
              <a:t>Agri-Rescue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6583680" cy="10972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2200" b="0">
                <a:solidFill>
                  <a:srgbClr val="E4EDE2"/>
                </a:solidFill>
                <a:latin typeface="Tahoma"/>
              </a:rPr>
              <a:t>แอปพลิเคชันระบายผลผลิตตกเกรดและใกล้เน่าเสียของเกษตรกรรายย่อย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6400800" cy="8229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500" b="0">
                <a:solidFill>
                  <a:srgbClr val="BFD6C2"/>
                </a:solidFill>
                <a:latin typeface="Tahoma"/>
              </a:rPr>
              <a:t>เป้าหมายธุรกิจ · โครงสร้างระบบ · UI/UX · เทคโนโลยี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640080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400" b="0">
                <a:solidFill>
                  <a:srgbClr val="BFD6C2"/>
                </a:solidFill>
                <a:latin typeface="Tahoma"/>
              </a:rPr>
              <a:t>ชื่อสมาชิก / รหัสนักศึกษา ...............................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1">
                <a:solidFill>
                  <a:srgbClr val="2E6040"/>
                </a:solidFill>
                <a:latin typeface="Tahoma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3000" b="1">
                <a:solidFill>
                  <a:srgbClr val="1B241C"/>
                </a:solidFill>
                <a:latin typeface="Tahoma"/>
              </a:rPr>
              <a:t>หัวข้อการนำเสนอ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100" b="0">
                <a:solidFill>
                  <a:srgbClr val="56615A"/>
                </a:solidFill>
                <a:latin typeface="Tahom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000" b="0">
                <a:solidFill>
                  <a:srgbClr val="56615A"/>
                </a:solidFill>
                <a:latin typeface="Tahoma"/>
              </a:rPr>
              <a:t>Agri-Rescue · System Analysis &amp;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286000" cy="8229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4000" b="1">
                <a:solidFill>
                  <a:srgbClr val="2E6040"/>
                </a:solidFill>
                <a:latin typeface="Tahom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2286000" cy="8229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2000" b="1">
                <a:solidFill>
                  <a:srgbClr val="1B241C"/>
                </a:solidFill>
                <a:latin typeface="Tahoma"/>
              </a:rPr>
              <a:t>เป้าหมายธุรกิจ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2286000" cy="13716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400" b="0">
                <a:solidFill>
                  <a:srgbClr val="56615A"/>
                </a:solidFill>
                <a:latin typeface="Tahoma"/>
              </a:rPr>
              <a:t>ปัญหา เป้าหมาย ผู้ใช้ กระบวนการ รายได้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011680"/>
            <a:ext cx="2286000" cy="8229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4000" b="1">
                <a:solidFill>
                  <a:srgbClr val="2E6040"/>
                </a:solidFill>
                <a:latin typeface="Tahom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017520"/>
            <a:ext cx="2286000" cy="8229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2000" b="1">
                <a:solidFill>
                  <a:srgbClr val="1B241C"/>
                </a:solidFill>
                <a:latin typeface="Tahoma"/>
              </a:rPr>
              <a:t>โครงสร้างระบบ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840480"/>
            <a:ext cx="2286000" cy="13716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400" b="0">
                <a:solidFill>
                  <a:srgbClr val="56615A"/>
                </a:solidFill>
                <a:latin typeface="Tahoma"/>
              </a:rPr>
              <a:t>สถาปัตยกรรม โมดูล ฐานข้อมูล สถานะ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2286000" cy="8229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4000" b="1">
                <a:solidFill>
                  <a:srgbClr val="2E6040"/>
                </a:solidFill>
                <a:latin typeface="Tahom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17520"/>
            <a:ext cx="2286000" cy="8229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2000" b="1">
                <a:solidFill>
                  <a:srgbClr val="1B241C"/>
                </a:solidFill>
                <a:latin typeface="Tahoma"/>
              </a:rPr>
              <a:t>หน้าตา UI/UX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40480"/>
            <a:ext cx="2286000" cy="13716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400" b="0">
                <a:solidFill>
                  <a:srgbClr val="56615A"/>
                </a:solidFill>
                <a:latin typeface="Tahoma"/>
              </a:rPr>
              <a:t>โครงเมนู Design system หน้าจอจริง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82880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011680"/>
            <a:ext cx="2286000" cy="8229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4000" b="1">
                <a:solidFill>
                  <a:srgbClr val="2E6040"/>
                </a:solidFill>
                <a:latin typeface="Tahom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017520"/>
            <a:ext cx="2286000" cy="8229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2000" b="1">
                <a:solidFill>
                  <a:srgbClr val="1B241C"/>
                </a:solidFill>
                <a:latin typeface="Tahoma"/>
              </a:rPr>
              <a:t>เทคโนโลยีที่เลือกใช้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840480"/>
            <a:ext cx="2286000" cy="13716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400" b="0">
                <a:solidFill>
                  <a:srgbClr val="56615A"/>
                </a:solidFill>
                <a:latin typeface="Tahoma"/>
              </a:rPr>
              <a:t>Frontend Backend Database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6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3657600" cy="13716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9600" b="1">
                <a:solidFill>
                  <a:srgbClr val="9CC3A6"/>
                </a:solidFill>
                <a:latin typeface="Tahom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058400" cy="9144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Tahoma"/>
              </a:rPr>
              <a:t>เป้าหมายธุรกิจ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80560"/>
            <a:ext cx="100584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800" b="0">
                <a:solidFill>
                  <a:srgbClr val="E4EDE2"/>
                </a:solidFill>
                <a:latin typeface="Tahoma"/>
              </a:rPr>
              <a:t>Business Goals — ทำไมต้องมี Agri-Rescue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1">
                <a:solidFill>
                  <a:srgbClr val="2E6040"/>
                </a:solidFill>
                <a:latin typeface="Tahoma"/>
              </a:rPr>
              <a:t>PROBLEM &amp;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3000" b="1">
                <a:solidFill>
                  <a:srgbClr val="1B241C"/>
                </a:solidFill>
                <a:latin typeface="Tahoma"/>
              </a:rPr>
              <a:t>ปัญหาและที่มา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100" b="0">
                <a:solidFill>
                  <a:srgbClr val="56615A"/>
                </a:solidFill>
                <a:latin typeface="Tahoma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000" b="0">
                <a:solidFill>
                  <a:srgbClr val="56615A"/>
                </a:solidFill>
                <a:latin typeface="Tahoma"/>
              </a:rPr>
              <a:t>Agri-Rescue · System Analysis &amp;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09728" cy="960120"/>
          </a:xfrm>
          <a:prstGeom prst="rect">
            <a:avLst/>
          </a:prstGeom>
          <a:solidFill>
            <a:srgbClr val="A32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10607040" cy="96012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800" b="0">
                <a:solidFill>
                  <a:srgbClr val="1B241C"/>
                </a:solidFill>
                <a:latin typeface="Tahoma"/>
              </a:rPr>
              <a:t>เกษตรกรรายย่อยมีผลผลิตตกเกรด/ใกล้เน่าเสียที่ขายผ่านช่องทางปกติไม่ได้ สุดท้ายกลายเป็นของเสีย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743200"/>
            <a:ext cx="109728" cy="960120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10607040" cy="96012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800" b="0">
                <a:solidFill>
                  <a:srgbClr val="1B241C"/>
                </a:solidFill>
                <a:latin typeface="Tahoma"/>
              </a:rPr>
              <a:t>ไม่มีช่องทางกลางที่บอกว่าผลผลิตล็อตนี้ "เหลือเวลาขายอีกกี่ชั่วโมง" และควรขายราคาเท่าไร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8620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886200"/>
            <a:ext cx="109728" cy="960120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10607040" cy="96012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800" b="0">
                <a:solidFill>
                  <a:srgbClr val="1B241C"/>
                </a:solidFill>
                <a:latin typeface="Tahoma"/>
              </a:rPr>
              <a:t>ผู้รับซื้อในพื้นที่ (รถพุ่มพวง ร้านอาหาร สถานสงเคราะห์) ไม่รู้ว่ามีของราคาถูกอยู่ใกล้ตัว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029200"/>
            <a:ext cx="109728" cy="960120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10607040" cy="96012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800" b="0">
                <a:solidFill>
                  <a:srgbClr val="1B241C"/>
                </a:solidFill>
                <a:latin typeface="Tahoma"/>
              </a:rPr>
              <a:t>ไม่มีการวัดผลว่าช่วยลดขยะอาหารและคาร์บอนได้เท่าไร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1">
                <a:solidFill>
                  <a:srgbClr val="2E6040"/>
                </a:solidFill>
                <a:latin typeface="Tahoma"/>
              </a:rPr>
              <a:t>BUSINESS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3000" b="1">
                <a:solidFill>
                  <a:srgbClr val="1B241C"/>
                </a:solidFill>
                <a:latin typeface="Tahoma"/>
              </a:rPr>
              <a:t>เป้าหมายทางธุรกิจ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100" b="0">
                <a:solidFill>
                  <a:srgbClr val="56615A"/>
                </a:solidFill>
                <a:latin typeface="Tahom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000" b="0">
                <a:solidFill>
                  <a:srgbClr val="56615A"/>
                </a:solidFill>
                <a:latin typeface="Tahoma"/>
              </a:rPr>
              <a:t>Agri-Rescue · System Analysis &amp;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" y="1965960"/>
            <a:ext cx="548640" cy="548640"/>
          </a:xfrm>
          <a:prstGeom prst="ellipse">
            <a:avLst/>
          </a:prstGeom>
          <a:solidFill>
            <a:srgbClr val="E4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548640" cy="5486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800" b="1">
                <a:solidFill>
                  <a:srgbClr val="2E6040"/>
                </a:solidFill>
                <a:latin typeface="Tahom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38528"/>
            <a:ext cx="420624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2200" b="1">
                <a:solidFill>
                  <a:srgbClr val="1B241C"/>
                </a:solidFill>
                <a:latin typeface="Tahoma"/>
              </a:rPr>
              <a:t>ลดการสูญเสียผลผลิต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60320"/>
            <a:ext cx="4206240" cy="10058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600" b="0">
                <a:solidFill>
                  <a:srgbClr val="56615A"/>
                </a:solidFill>
                <a:latin typeface="Tahoma"/>
              </a:rPr>
              <a:t>ระบายล็อตใกล้หมดอายุไปยังผู้ซื้อในรัศมี 5–25 กม. ก่อนเน่าเสีย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E4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65960"/>
            <a:ext cx="548640" cy="5486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800" b="1">
                <a:solidFill>
                  <a:srgbClr val="2E6040"/>
                </a:solidFill>
                <a:latin typeface="Tahom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938528"/>
            <a:ext cx="420624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2200" b="1">
                <a:solidFill>
                  <a:srgbClr val="1B241C"/>
                </a:solidFill>
                <a:latin typeface="Tahoma"/>
              </a:rPr>
              <a:t>เพิ่มรายได้เกษตรกร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560320"/>
            <a:ext cx="4206240" cy="10058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600" b="0">
                <a:solidFill>
                  <a:srgbClr val="56615A"/>
                </a:solidFill>
                <a:latin typeface="Tahoma"/>
              </a:rPr>
              <a:t>ราคาด่วนคำนวณจากความสดและราคาตลาดอ้างอิง (DIT) แทนการทิ้งของ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59" y="4251959"/>
            <a:ext cx="548640" cy="548640"/>
          </a:xfrm>
          <a:prstGeom prst="ellipse">
            <a:avLst/>
          </a:prstGeom>
          <a:solidFill>
            <a:srgbClr val="E4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251959"/>
            <a:ext cx="548640" cy="5486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800" b="1">
                <a:solidFill>
                  <a:srgbClr val="2E6040"/>
                </a:solidFill>
                <a:latin typeface="Tahom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224528"/>
            <a:ext cx="420624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2200" b="1">
                <a:solidFill>
                  <a:srgbClr val="1B241C"/>
                </a:solidFill>
                <a:latin typeface="Tahoma"/>
              </a:rPr>
              <a:t>ส่งต่อสู่การกุศล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846320"/>
            <a:ext cx="4206240" cy="10058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600" b="0">
                <a:solidFill>
                  <a:srgbClr val="56615A"/>
                </a:solidFill>
                <a:latin typeface="Tahoma"/>
              </a:rPr>
              <a:t>ล็อตที่ขายไม่ทันเปิดให้องค์กร/อาสาที่ยืนยันตัวตนแล้วรับบริจาค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93192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4251959"/>
            <a:ext cx="548640" cy="548640"/>
          </a:xfrm>
          <a:prstGeom prst="ellipse">
            <a:avLst/>
          </a:prstGeom>
          <a:solidFill>
            <a:srgbClr val="E4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251959"/>
            <a:ext cx="548640" cy="5486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800" b="1">
                <a:solidFill>
                  <a:srgbClr val="2E6040"/>
                </a:solidFill>
                <a:latin typeface="Tahom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224528"/>
            <a:ext cx="420624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2200" b="1">
                <a:solidFill>
                  <a:srgbClr val="1B241C"/>
                </a:solidFill>
                <a:latin typeface="Tahoma"/>
              </a:rPr>
              <a:t>วัดผลกระทบได้จริง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846320"/>
            <a:ext cx="4206240" cy="10058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600" b="0">
                <a:solidFill>
                  <a:srgbClr val="56615A"/>
                </a:solidFill>
                <a:latin typeface="Tahoma"/>
              </a:rPr>
              <a:t>บันทึก กก. ที่ช่วยได้ และ CO₂e ทุกครั้งที่ส่งมอบสำเร็จ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1">
                <a:solidFill>
                  <a:srgbClr val="2E6040"/>
                </a:solidFill>
                <a:latin typeface="Tahoma"/>
              </a:rPr>
              <a:t>TARGET USERS &amp;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3000" b="1">
                <a:solidFill>
                  <a:srgbClr val="1B241C"/>
                </a:solidFill>
                <a:latin typeface="Tahoma"/>
              </a:rPr>
              <a:t>กลุ่มผู้ใช้และผู้มีส่วนได้ส่วนเสีย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100" b="0">
                <a:solidFill>
                  <a:srgbClr val="56615A"/>
                </a:solidFill>
                <a:latin typeface="Tahoma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000" b="0">
                <a:solidFill>
                  <a:srgbClr val="56615A"/>
                </a:solidFill>
                <a:latin typeface="Tahoma"/>
              </a:rPr>
              <a:t>Agri-Rescue · System Analysis &amp;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108960" cy="777240"/>
          </a:xfrm>
          <a:prstGeom prst="roundRect">
            <a:avLst>
              <a:gd name="adj" fmla="val 8000"/>
            </a:avLst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310896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ahoma"/>
              </a:rPr>
              <a:t>เกษตรกร / ผู้ขาย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60020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1600200"/>
            <a:ext cx="768096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600" b="0">
                <a:solidFill>
                  <a:srgbClr val="1B241C"/>
                </a:solidFill>
                <a:latin typeface="Tahoma"/>
              </a:rPr>
              <a:t>ลงล็อต ประเมินความสุกด้วย AI ตั้งราคาเริ่ม/ราคาต่ำสุด จัดการร้านค้า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3108960" cy="777240"/>
          </a:xfrm>
          <a:prstGeom prst="roundRect">
            <a:avLst>
              <a:gd name="adj" fmla="val 8000"/>
            </a:avLst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310896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ahoma"/>
              </a:rPr>
              <a:t>ผู้ซื้อท้องถิ่น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251460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2514600"/>
            <a:ext cx="768096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600" b="0">
                <a:solidFill>
                  <a:srgbClr val="1B241C"/>
                </a:solidFill>
                <a:latin typeface="Tahoma"/>
              </a:rPr>
              <a:t>ดูตลาดด่วนใกล้ตัว ค้นหา/กรอง จองล็อต ชำระเงิน (จำลอง) รับของด้วย OTP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29000"/>
            <a:ext cx="3108960" cy="777240"/>
          </a:xfrm>
          <a:prstGeom prst="roundRect">
            <a:avLst>
              <a:gd name="adj" fmla="val 8000"/>
            </a:avLst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29000"/>
            <a:ext cx="310896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ahoma"/>
              </a:rPr>
              <a:t>ผู้รับบริจาค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342900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3429000"/>
            <a:ext cx="768096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600" b="0">
                <a:solidFill>
                  <a:srgbClr val="1B241C"/>
                </a:solidFill>
                <a:latin typeface="Tahoma"/>
              </a:rPr>
              <a:t>อาสาสมัคร / องค์กรที่ผ่านการอนุมัติ ขอรับบริจาคตามเพดานรายสัปดาห์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43400"/>
            <a:ext cx="3108960" cy="777240"/>
          </a:xfrm>
          <a:prstGeom prst="roundRect">
            <a:avLst>
              <a:gd name="adj" fmla="val 8000"/>
            </a:avLst>
          </a:prstGeom>
          <a:solidFill>
            <a:srgbClr val="1F4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43400"/>
            <a:ext cx="310896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ahoma"/>
              </a:rPr>
              <a:t>ผู้ดูแลระบบ (Admin)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39" y="434340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4343400"/>
            <a:ext cx="768096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600" b="0">
                <a:solidFill>
                  <a:srgbClr val="1B241C"/>
                </a:solidFill>
                <a:latin typeface="Tahoma"/>
              </a:rPr>
              <a:t>อนุมัติองค์กร ตรวจตลาด จัดการคำร้อง ตั้งค่าราคาอ้างอิง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57800"/>
            <a:ext cx="3108960" cy="777240"/>
          </a:xfrm>
          <a:prstGeom prst="roundRect">
            <a:avLst>
              <a:gd name="adj" fmla="val 8000"/>
            </a:avLst>
          </a:prstGeom>
          <a:solidFill>
            <a:srgbClr val="1F4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257800"/>
            <a:ext cx="310896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ahoma"/>
              </a:rPr>
              <a:t>ผู้ไม่เข้าสู่ระบบ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39" y="525780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5257800"/>
            <a:ext cx="768096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600" b="0">
                <a:solidFill>
                  <a:srgbClr val="1B241C"/>
                </a:solidFill>
                <a:latin typeface="Tahoma"/>
              </a:rPr>
              <a:t>ดูตลาดสาธารณะได้ แต่ไม่เห็นพิกัดแปลงหรือข้อมูลติดต่อผู้ขาย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1">
                <a:solidFill>
                  <a:srgbClr val="2E6040"/>
                </a:solidFill>
                <a:latin typeface="Tahoma"/>
              </a:rP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3000" b="1">
                <a:solidFill>
                  <a:srgbClr val="1B241C"/>
                </a:solidFill>
                <a:latin typeface="Tahoma"/>
              </a:rPr>
              <a:t>คุณค่าที่ส่งมอบ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100" b="0">
                <a:solidFill>
                  <a:srgbClr val="56615A"/>
                </a:solidFill>
                <a:latin typeface="Tahoma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000" b="0">
                <a:solidFill>
                  <a:srgbClr val="56615A"/>
                </a:solidFill>
                <a:latin typeface="Tahoma"/>
              </a:rPr>
              <a:t>Agri-Rescue · System Analysis &amp; Design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73936"/>
            <a:ext cx="128016" cy="128016"/>
          </a:xfrm>
          <a:prstGeom prst="ellipse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6720840" cy="8686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800" b="0">
                <a:solidFill>
                  <a:srgbClr val="1B241C"/>
                </a:solidFill>
                <a:latin typeface="Tahoma"/>
              </a:rPr>
              <a:t>ผู้ใช้คนเดียวเป็นได้ทั้งผู้ขายและผู้ซื้อ (multi-role) ไม่ต้องสลับบัญชี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42616"/>
            <a:ext cx="128016" cy="128016"/>
          </a:xfrm>
          <a:prstGeom prst="ellipse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6720840" cy="8686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800" b="0">
                <a:solidFill>
                  <a:srgbClr val="1B241C"/>
                </a:solidFill>
                <a:latin typeface="Tahoma"/>
              </a:rPr>
              <a:t>AI ประเมินความสุกจากภาพ → คำนวณอายุการขาย (shelf-life) + ราคาด่วนอัตโนมัติ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11296"/>
            <a:ext cx="128016" cy="128016"/>
          </a:xfrm>
          <a:prstGeom prst="ellipse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83280"/>
            <a:ext cx="6720840" cy="8686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800" b="0">
                <a:solidFill>
                  <a:srgbClr val="1B241C"/>
                </a:solidFill>
                <a:latin typeface="Tahoma"/>
              </a:rPr>
              <a:t>ใช้สภาพอากาศจริงที่แปลง (Open-Meteo) มาปรับอายุการขาย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379975"/>
            <a:ext cx="128016" cy="128016"/>
          </a:xfrm>
          <a:prstGeom prst="ellipse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51959"/>
            <a:ext cx="6720840" cy="8686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800" b="0">
                <a:solidFill>
                  <a:srgbClr val="1B241C"/>
                </a:solidFill>
                <a:latin typeface="Tahoma"/>
              </a:rPr>
              <a:t>ราคาอ้างอิงจากกรมการค้าภายใน (MOC Open Data) ป้องกันการตั้งราคาผิดเพี้ยน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248655"/>
            <a:ext cx="128016" cy="128016"/>
          </a:xfrm>
          <a:prstGeom prst="ellipse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0640"/>
            <a:ext cx="6720840" cy="8686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800" b="0">
                <a:solidFill>
                  <a:srgbClr val="1B241C"/>
                </a:solidFill>
                <a:latin typeface="Tahoma"/>
              </a:rPr>
              <a:t>ป้ายเวลาตามความด่วน (&lt; 24 ชม. / &lt; 48 ชม.) ให้ผู้ซื้อตัดสินใจเร็ว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64592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1F4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828800"/>
            <a:ext cx="329184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600" b="1">
                <a:solidFill>
                  <a:srgbClr val="BFD6C2"/>
                </a:solidFill>
                <a:latin typeface="Tahoma"/>
              </a:rPr>
              <a:t>ต่างจาก e-commerce ทั่วไป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377440"/>
            <a:ext cx="3291840" cy="33832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Tahoma"/>
              </a:rPr>
              <a:t>• ขาย "ล็อตใกล้หมดอายุ" มีเวลานับถอยหลัง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ahoma"/>
              </a:rPr>
              <a:t>• ราคาเปลี่ยนตามความสด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ahoma"/>
              </a:rPr>
              <a:t>• ยืนยันส่งมอบด้วย OTP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ahoma"/>
              </a:rPr>
              <a:t>• มีทางออกเป็นการบริจาค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Tahoma"/>
              </a:rPr>
              <a:t>• วัดผลกระทบ CO₂e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1">
                <a:solidFill>
                  <a:srgbClr val="2E6040"/>
                </a:solidFill>
                <a:latin typeface="Tahoma"/>
              </a:rPr>
              <a:t>BUSINESS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3000" b="1">
                <a:solidFill>
                  <a:srgbClr val="1B241C"/>
                </a:solidFill>
                <a:latin typeface="Tahoma"/>
              </a:rPr>
              <a:t>กระบวนการทางธุรกิจหลัก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100" b="0">
                <a:solidFill>
                  <a:srgbClr val="56615A"/>
                </a:solidFill>
                <a:latin typeface="Tahoma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000" b="0">
                <a:solidFill>
                  <a:srgbClr val="56615A"/>
                </a:solidFill>
                <a:latin typeface="Tahoma"/>
              </a:rPr>
              <a:t>Agri-Rescue · System Analysis &amp; Design</a:t>
            </a:r>
          </a:p>
        </p:txBody>
      </p:sp>
      <p:sp>
        <p:nvSpPr>
          <p:cNvPr id="7" name="Pentagon 6"/>
          <p:cNvSpPr/>
          <p:nvPr/>
        </p:nvSpPr>
        <p:spPr>
          <a:xfrm>
            <a:off x="457200" y="2377440"/>
            <a:ext cx="1371600" cy="1463040"/>
          </a:xfrm>
          <a:prstGeom prst="homePlate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เกษตรกรถ่ายรูป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เลือกพืช</a:t>
            </a:r>
          </a:p>
        </p:txBody>
      </p:sp>
      <p:sp>
        <p:nvSpPr>
          <p:cNvPr id="8" name="Chevron 7"/>
          <p:cNvSpPr/>
          <p:nvPr/>
        </p:nvSpPr>
        <p:spPr>
          <a:xfrm>
            <a:off x="1874519" y="2377440"/>
            <a:ext cx="1371600" cy="1463040"/>
          </a:xfrm>
          <a:prstGeom prst="chevron">
            <a:avLst/>
          </a:prstGeom>
          <a:solidFill>
            <a:srgbClr val="1F4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AI ประเมิน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ความสุก</a:t>
            </a:r>
          </a:p>
        </p:txBody>
      </p:sp>
      <p:sp>
        <p:nvSpPr>
          <p:cNvPr id="9" name="Chevron 8"/>
          <p:cNvSpPr/>
          <p:nvPr/>
        </p:nvSpPr>
        <p:spPr>
          <a:xfrm>
            <a:off x="3291840" y="2377440"/>
            <a:ext cx="1371600" cy="1463040"/>
          </a:xfrm>
          <a:prstGeom prst="chevron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คำนวณ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shelf-life + ราคา</a:t>
            </a:r>
          </a:p>
        </p:txBody>
      </p:sp>
      <p:sp>
        <p:nvSpPr>
          <p:cNvPr id="10" name="Chevron 9"/>
          <p:cNvSpPr/>
          <p:nvPr/>
        </p:nvSpPr>
        <p:spPr>
          <a:xfrm>
            <a:off x="4709160" y="2377440"/>
            <a:ext cx="1371600" cy="1463040"/>
          </a:xfrm>
          <a:prstGeom prst="chevron">
            <a:avLst/>
          </a:prstGeom>
          <a:solidFill>
            <a:srgbClr val="1F4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ลงล็อต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ในตลาด</a:t>
            </a:r>
          </a:p>
        </p:txBody>
      </p:sp>
      <p:sp>
        <p:nvSpPr>
          <p:cNvPr id="11" name="Chevron 10"/>
          <p:cNvSpPr/>
          <p:nvPr/>
        </p:nvSpPr>
        <p:spPr>
          <a:xfrm>
            <a:off x="6126480" y="2377440"/>
            <a:ext cx="1371600" cy="1463040"/>
          </a:xfrm>
          <a:prstGeom prst="chevron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ผู้ซื้อจอง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/ ขอบริจาค</a:t>
            </a:r>
          </a:p>
        </p:txBody>
      </p:sp>
      <p:sp>
        <p:nvSpPr>
          <p:cNvPr id="12" name="Chevron 11"/>
          <p:cNvSpPr/>
          <p:nvPr/>
        </p:nvSpPr>
        <p:spPr>
          <a:xfrm>
            <a:off x="7543800" y="2377440"/>
            <a:ext cx="1371600" cy="1463040"/>
          </a:xfrm>
          <a:prstGeom prst="chevron">
            <a:avLst/>
          </a:prstGeom>
          <a:solidFill>
            <a:srgbClr val="1F4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ชำระเงิน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(จำลอง)</a:t>
            </a:r>
          </a:p>
        </p:txBody>
      </p:sp>
      <p:sp>
        <p:nvSpPr>
          <p:cNvPr id="13" name="Chevron 12"/>
          <p:cNvSpPr/>
          <p:nvPr/>
        </p:nvSpPr>
        <p:spPr>
          <a:xfrm>
            <a:off x="8961120" y="2377440"/>
            <a:ext cx="1371600" cy="1463040"/>
          </a:xfrm>
          <a:prstGeom prst="chevron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นัดรับ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ยืนยัน OTP</a:t>
            </a:r>
          </a:p>
        </p:txBody>
      </p:sp>
      <p:sp>
        <p:nvSpPr>
          <p:cNvPr id="14" name="Chevron 13"/>
          <p:cNvSpPr/>
          <p:nvPr/>
        </p:nvSpPr>
        <p:spPr>
          <a:xfrm>
            <a:off x="10378440" y="2377440"/>
            <a:ext cx="1371600" cy="1463040"/>
          </a:xfrm>
          <a:prstGeom prst="chevron">
            <a:avLst/>
          </a:prstGeom>
          <a:solidFill>
            <a:srgbClr val="1F4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บันทึก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Impact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69080"/>
            <a:ext cx="5623560" cy="411480"/>
          </a:xfrm>
          <a:prstGeom prst="roundRect">
            <a:avLst>
              <a:gd name="adj" fmla="val 8000"/>
            </a:avLst>
          </a:prstGeom>
          <a:solidFill>
            <a:srgbClr val="E4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069080"/>
            <a:ext cx="5623560" cy="4114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300" b="1">
                <a:solidFill>
                  <a:srgbClr val="2E6040"/>
                </a:solidFill>
                <a:latin typeface="Tahoma"/>
              </a:rPr>
              <a:t>เกษตรกร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4069080"/>
            <a:ext cx="2788920" cy="411480"/>
          </a:xfrm>
          <a:prstGeom prst="roundRect">
            <a:avLst>
              <a:gd name="adj" fmla="val 8000"/>
            </a:avLst>
          </a:prstGeom>
          <a:solidFill>
            <a:srgbClr val="E4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74519" y="4069080"/>
            <a:ext cx="2788920" cy="4114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300" b="1">
                <a:solidFill>
                  <a:srgbClr val="2E6040"/>
                </a:solidFill>
                <a:latin typeface="Tahoma"/>
              </a:rPr>
              <a:t>ระบบ/AI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069080"/>
            <a:ext cx="4206240" cy="411480"/>
          </a:xfrm>
          <a:prstGeom prst="roundRect">
            <a:avLst>
              <a:gd name="adj" fmla="val 8000"/>
            </a:avLst>
          </a:prstGeom>
          <a:solidFill>
            <a:srgbClr val="E4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4069080"/>
            <a:ext cx="4206240" cy="4114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300" b="1">
                <a:solidFill>
                  <a:srgbClr val="2E6040"/>
                </a:solidFill>
                <a:latin typeface="Tahoma"/>
              </a:rPr>
              <a:t>ผู้ซื้อ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78440" y="4069080"/>
            <a:ext cx="1371600" cy="411480"/>
          </a:xfrm>
          <a:prstGeom prst="roundRect">
            <a:avLst>
              <a:gd name="adj" fmla="val 8000"/>
            </a:avLst>
          </a:prstGeom>
          <a:solidFill>
            <a:srgbClr val="E4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78440" y="4069080"/>
            <a:ext cx="1371600" cy="4114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300" b="1">
                <a:solidFill>
                  <a:srgbClr val="2E6040"/>
                </a:solidFill>
                <a:latin typeface="Tahoma"/>
              </a:rPr>
              <a:t>ระบบ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10972800" cy="12801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400" b="0">
                <a:solidFill>
                  <a:srgbClr val="56615A"/>
                </a:solidFill>
                <a:latin typeface="Tahoma"/>
              </a:rPr>
              <a:t>ทางแยกสำคัญ: AI ไม่มั่นใจ (&lt;0.6) หรือไม่ใช่พืชที่เลือก → เกษตรกรเลือกความสุกเอง · ล็อตเลยเวลา → expired อัตโนมัติ</a:t>
            </a:r>
          </a:p>
          <a:p>
            <a:pPr algn="l"/>
            <a:r>
              <a:rPr sz="1400" b="0">
                <a:solidFill>
                  <a:srgbClr val="56615A"/>
                </a:solidFill>
                <a:latin typeface="Tahoma"/>
              </a:rPr>
              <a:t>ไม่ชำระภายในเวลา → ยกเลิกออเดอร์และคืนน้ำหนักเข้าล็อต · OTP ผิด 5 ครั้ง → ล็อก รอผู้ดูแลปลด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1">
                <a:solidFill>
                  <a:srgbClr val="2E6040"/>
                </a:solidFill>
                <a:latin typeface="Tahoma"/>
              </a:rPr>
              <a:t>REVENUE MODEL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3000" b="1">
                <a:solidFill>
                  <a:srgbClr val="1B241C"/>
                </a:solidFill>
                <a:latin typeface="Tahoma"/>
              </a:rPr>
              <a:t>โมเดลรายได้และตัวชี้วัด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100" b="0">
                <a:solidFill>
                  <a:srgbClr val="56615A"/>
                </a:solidFill>
                <a:latin typeface="Tahoma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000" b="0">
                <a:solidFill>
                  <a:srgbClr val="56615A"/>
                </a:solidFill>
                <a:latin typeface="Tahoma"/>
              </a:rPr>
              <a:t>Agri-Rescue · System Analysis &amp;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6035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66928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2000" b="1">
                <a:solidFill>
                  <a:srgbClr val="2E6040"/>
                </a:solidFill>
                <a:latin typeface="Tahoma"/>
              </a:rPr>
              <a:t>ปัจจุบัน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669280" cy="10972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600" b="0">
                <a:solidFill>
                  <a:srgbClr val="1B241C"/>
                </a:solidFill>
                <a:latin typeface="Tahoma"/>
              </a:rPr>
              <a:t>ไม่เก็บค่าธรรมเนียม/คอมมิชชัน เพื่อดึงผู้ใช้กลุ่มแรกเข้าระบบ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6035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94760"/>
            <a:ext cx="566928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2000" b="1">
                <a:solidFill>
                  <a:srgbClr val="2E6040"/>
                </a:solidFill>
                <a:latin typeface="Tahoma"/>
              </a:rPr>
              <a:t>อนาคต (ทางเลือก)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5669280" cy="10972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600" b="0">
                <a:solidFill>
                  <a:srgbClr val="1B241C"/>
                </a:solidFill>
                <a:latin typeface="Tahoma"/>
              </a:rPr>
              <a:t>ค่าธรรมเนียมต่อธุรกรรมเล็กน้อย, ร้านค้าแนะนำ (promoted listing), แพ็กเกจองค์กร/ESG report จากข้อมูล Impact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645920"/>
            <a:ext cx="4663440" cy="3840480"/>
          </a:xfrm>
          <a:prstGeom prst="roundRect">
            <a:avLst>
              <a:gd name="adj" fmla="val 8000"/>
            </a:avLst>
          </a:prstGeom>
          <a:solidFill>
            <a:srgbClr val="1F4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1783080"/>
            <a:ext cx="429768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ahoma"/>
              </a:rPr>
              <a:t>KPI ที่ระบบวัดได้จริง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377440"/>
            <a:ext cx="429768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600" b="0">
                <a:solidFill>
                  <a:srgbClr val="E4EDE2"/>
                </a:solidFill>
                <a:latin typeface="Tahoma"/>
              </a:rPr>
              <a:t>✓  กิโลกรัมผลผลิตที่ช่วยได้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971800"/>
            <a:ext cx="429768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600" b="0">
                <a:solidFill>
                  <a:srgbClr val="E4EDE2"/>
                </a:solidFill>
                <a:latin typeface="Tahoma"/>
              </a:rPr>
              <a:t>✓  CO₂e ที่ลดได้ (kg × 2.5)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3566160"/>
            <a:ext cx="429768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600" b="0">
                <a:solidFill>
                  <a:srgbClr val="E4EDE2"/>
                </a:solidFill>
                <a:latin typeface="Tahoma"/>
              </a:rPr>
              <a:t>✓  รายได้ที่เกษตรกรได้รับ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4160520"/>
            <a:ext cx="429768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600" b="0">
                <a:solidFill>
                  <a:srgbClr val="E4EDE2"/>
                </a:solidFill>
                <a:latin typeface="Tahoma"/>
              </a:rPr>
              <a:t>✓  กิโลกรัมที่บริจาค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4754880"/>
            <a:ext cx="429768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600" b="0">
                <a:solidFill>
                  <a:srgbClr val="E4EDE2"/>
                </a:solidFill>
                <a:latin typeface="Tahoma"/>
              </a:rPr>
              <a:t>✓  จำนวนล็อตที่ส่งมอบสำเร็จ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6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3657600" cy="13716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9600" b="1">
                <a:solidFill>
                  <a:srgbClr val="9CC3A6"/>
                </a:solidFill>
                <a:latin typeface="Tahom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058400" cy="9144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Tahoma"/>
              </a:rPr>
              <a:t>โครงสร้างระบบ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80560"/>
            <a:ext cx="100584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800" b="0">
                <a:solidFill>
                  <a:srgbClr val="E4EDE2"/>
                </a:solidFill>
                <a:latin typeface="Tahoma"/>
              </a:rPr>
              <a:t>System Architecture — ระบบประกอบด้วยอะไรบ้าง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1">
                <a:solidFill>
                  <a:srgbClr val="2E6040"/>
                </a:solidFill>
                <a:latin typeface="Tahoma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3000" b="1">
                <a:solidFill>
                  <a:srgbClr val="1B241C"/>
                </a:solidFill>
                <a:latin typeface="Tahoma"/>
              </a:rPr>
              <a:t>สถาปัตยกรรมระบบ (3-Tier)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100" b="0">
                <a:solidFill>
                  <a:srgbClr val="56615A"/>
                </a:solidFill>
                <a:latin typeface="Tahoma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000" b="0">
                <a:solidFill>
                  <a:srgbClr val="56615A"/>
                </a:solidFill>
                <a:latin typeface="Tahoma"/>
              </a:rPr>
              <a:t>Agri-Rescue · System Analysis &amp;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017520" cy="2011680"/>
          </a:xfrm>
          <a:prstGeom prst="roundRect">
            <a:avLst>
              <a:gd name="adj" fmla="val 8000"/>
            </a:avLst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01752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ahoma"/>
              </a:rPr>
              <a:t>แอปมือถือ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017520" cy="11887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Tahoma"/>
              </a:rPr>
              <a:t>Expo / React Native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Tahoma"/>
              </a:rPr>
              <a:t>iOS · Android · Web</a:t>
            </a:r>
          </a:p>
        </p:txBody>
      </p:sp>
      <p:sp>
        <p:nvSpPr>
          <p:cNvPr id="10" name="Left-Right Arrow 9"/>
          <p:cNvSpPr/>
          <p:nvPr/>
        </p:nvSpPr>
        <p:spPr>
          <a:xfrm>
            <a:off x="3749039" y="2514600"/>
            <a:ext cx="640080" cy="457200"/>
          </a:xfrm>
          <a:prstGeom prst="leftRightArrow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737360"/>
            <a:ext cx="3017520" cy="2011680"/>
          </a:xfrm>
          <a:prstGeom prst="roundRect">
            <a:avLst>
              <a:gd name="adj" fmla="val 8000"/>
            </a:avLst>
          </a:prstGeom>
          <a:solidFill>
            <a:srgbClr val="1F4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28800"/>
            <a:ext cx="301752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ahoma"/>
              </a:rPr>
              <a:t>REST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68880"/>
            <a:ext cx="3017520" cy="11887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Tahoma"/>
              </a:rPr>
              <a:t>Node.js · Express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Tahoma"/>
              </a:rPr>
              <a:t>TypeScript · JWT</a:t>
            </a:r>
          </a:p>
        </p:txBody>
      </p:sp>
      <p:sp>
        <p:nvSpPr>
          <p:cNvPr id="14" name="Left-Right Arrow 13"/>
          <p:cNvSpPr/>
          <p:nvPr/>
        </p:nvSpPr>
        <p:spPr>
          <a:xfrm>
            <a:off x="7589520" y="2514600"/>
            <a:ext cx="640080" cy="457200"/>
          </a:xfrm>
          <a:prstGeom prst="leftRightArrow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1737360"/>
            <a:ext cx="3017520" cy="2011680"/>
          </a:xfrm>
          <a:prstGeom prst="roundRect">
            <a:avLst>
              <a:gd name="adj" fmla="val 8000"/>
            </a:avLst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28800"/>
            <a:ext cx="301752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ahoma"/>
              </a:rPr>
              <a:t>ฐานข้อมูล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68880"/>
            <a:ext cx="3017520" cy="11887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Tahoma"/>
              </a:rPr>
              <a:t>MySQL 8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Tahoma"/>
              </a:rPr>
              <a:t>~29 ตาราง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325880"/>
            <a:ext cx="914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1100" b="0">
                <a:solidFill>
                  <a:srgbClr val="56615A"/>
                </a:solidFill>
                <a:latin typeface="Tahoma"/>
              </a:rPr>
              <a:t>HTTPS/JSON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457200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8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4617720"/>
            <a:ext cx="265176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1500" b="1">
                <a:solidFill>
                  <a:srgbClr val="1B241C"/>
                </a:solidFill>
                <a:latin typeface="Tahoma"/>
              </a:rPr>
              <a:t>AI Vision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074920"/>
            <a:ext cx="265176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1300" b="0">
                <a:solidFill>
                  <a:srgbClr val="56615A"/>
                </a:solidFill>
                <a:latin typeface="Tahoma"/>
              </a:rPr>
              <a:t>ประเมินความสุกจากรูป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457200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8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4617720"/>
            <a:ext cx="265176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1500" b="1">
                <a:solidFill>
                  <a:srgbClr val="1B241C"/>
                </a:solidFill>
                <a:latin typeface="Tahoma"/>
              </a:rPr>
              <a:t>Open-Meteo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074920"/>
            <a:ext cx="265176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1300" b="0">
                <a:solidFill>
                  <a:srgbClr val="56615A"/>
                </a:solidFill>
                <a:latin typeface="Tahoma"/>
              </a:rPr>
              <a:t>พยากรณ์อากาศที่แปลง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57200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8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4617720"/>
            <a:ext cx="265176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1500" b="1">
                <a:solidFill>
                  <a:srgbClr val="1B241C"/>
                </a:solidFill>
                <a:latin typeface="Tahoma"/>
              </a:rPr>
              <a:t>MOC / DIT Open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074920"/>
            <a:ext cx="265176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1300" b="0">
                <a:solidFill>
                  <a:srgbClr val="56615A"/>
                </a:solidFill>
                <a:latin typeface="Tahoma"/>
              </a:rPr>
              <a:t>ราคาขายส่งอ้างอิง</a:t>
            </a:r>
          </a:p>
        </p:txBody>
      </p:sp>
      <p:sp>
        <p:nvSpPr>
          <p:cNvPr id="28" name="Up-Down Arrow 27"/>
          <p:cNvSpPr/>
          <p:nvPr/>
        </p:nvSpPr>
        <p:spPr>
          <a:xfrm>
            <a:off x="5852160" y="3794760"/>
            <a:ext cx="457200" cy="731520"/>
          </a:xfrm>
          <a:prstGeom prst="upDownArrow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300" b="0">
                <a:solidFill>
                  <a:srgbClr val="56615A"/>
                </a:solidFill>
                <a:latin typeface="Tahoma"/>
              </a:rPr>
              <a:t>Background jobs: หมดอายุล็อตทุก 10 นาที · ยกเลิกออเดอร์ที่ไม่ชำระ · ดึงราคา DIT รายชั่วโมง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1">
                <a:solidFill>
                  <a:srgbClr val="2E6040"/>
                </a:solidFill>
                <a:latin typeface="Tahoma"/>
              </a:rPr>
              <a:t>FUNCTIONAL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3000" b="1">
                <a:solidFill>
                  <a:srgbClr val="1B241C"/>
                </a:solidFill>
                <a:latin typeface="Tahoma"/>
              </a:rPr>
              <a:t>โมดูลของระบบ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100" b="0">
                <a:solidFill>
                  <a:srgbClr val="56615A"/>
                </a:solidFill>
                <a:latin typeface="Tahoma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000" b="0">
                <a:solidFill>
                  <a:srgbClr val="56615A"/>
                </a:solidFill>
                <a:latin typeface="Tahoma"/>
              </a:rPr>
              <a:t>Agri-Rescue · System Analysis &amp;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91440" cy="841248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2011680" cy="80467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400" b="1">
                <a:solidFill>
                  <a:srgbClr val="2E6040"/>
                </a:solidFill>
                <a:latin typeface="Tahoma"/>
              </a:rPr>
              <a:t>Auth &amp;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527048"/>
            <a:ext cx="3291840" cy="80467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สมัคร/เข้าสู่ระบบด้วยเบอร์หรืออีเมล, JWT 7 วัน, สิทธิ์ขาย/ซื้อ/admin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508760"/>
            <a:ext cx="91440" cy="841248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27048"/>
            <a:ext cx="2011680" cy="80467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400" b="1">
                <a:solidFill>
                  <a:srgbClr val="2E6040"/>
                </a:solidFill>
                <a:latin typeface="Tahoma"/>
              </a:rPr>
              <a:t>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527048"/>
            <a:ext cx="3291840" cy="80467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ตลาดสาธารณะ + ตลาดในรัศมี, ค้นหา, กรองหมวด/ระยะ/ราคา/เวลา, เรียงลำดับ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468880"/>
            <a:ext cx="91440" cy="841248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487168"/>
            <a:ext cx="2011680" cy="80467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400" b="1">
                <a:solidFill>
                  <a:srgbClr val="2E6040"/>
                </a:solidFill>
                <a:latin typeface="Tahoma"/>
              </a:rPr>
              <a:t>Lots &amp; Crops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487168"/>
            <a:ext cx="3291840" cy="80467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แปลง, ลงล็อต, รูปล็อต, แก้/แบ่งขาย, หมวดพืช ~31 ชนิด, เสนอพืชใหม่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468880"/>
            <a:ext cx="91440" cy="841248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487168"/>
            <a:ext cx="2011680" cy="80467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400" b="1">
                <a:solidFill>
                  <a:srgbClr val="2E6040"/>
                </a:solidFill>
                <a:latin typeface="Tahoma"/>
              </a:rPr>
              <a:t>AI 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87168"/>
            <a:ext cx="3291840" cy="80467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ส่งรูป → ระดับความสุก 0–4, ความมั่นใจ, ตำหนิ, subject_match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429000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429000"/>
            <a:ext cx="91440" cy="841248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447288"/>
            <a:ext cx="2011680" cy="80467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400" b="1">
                <a:solidFill>
                  <a:srgbClr val="2E6040"/>
                </a:solidFill>
                <a:latin typeface="Tahoma"/>
              </a:rPr>
              <a:t>Pricing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447288"/>
            <a:ext cx="3291840" cy="80467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ราคาอ้างอิง DIT, ราคาเริ่ม/ต่ำสุด, ปัจจัยฤดูกาล, สูตรราคาตามความสด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429000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429000"/>
            <a:ext cx="91440" cy="841248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447288"/>
            <a:ext cx="2011680" cy="80467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400" b="1">
                <a:solidFill>
                  <a:srgbClr val="2E6040"/>
                </a:solidFill>
                <a:latin typeface="Tahoma"/>
              </a:rPr>
              <a:t>Orders &amp; Payment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447288"/>
            <a:ext cx="3291840" cy="80467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จอง, ช่วงนัดรับ, ชำระเงินจำลอง (QR PromptPay), หมดเวลาแล้วคืนของ, OTP ส่งมอบ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389120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389120"/>
            <a:ext cx="91440" cy="841248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407408"/>
            <a:ext cx="2011680" cy="80467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400" b="1">
                <a:solidFill>
                  <a:srgbClr val="2E6040"/>
                </a:solidFill>
                <a:latin typeface="Tahoma"/>
              </a:rPr>
              <a:t>Donation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4407408"/>
            <a:ext cx="3291840" cy="80467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ระดับผู้รับ volunteer → trusted → verified_org, เพดานรายสัปดาห์, รูปยืนยันรับของ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389120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4389120"/>
            <a:ext cx="91440" cy="841248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407408"/>
            <a:ext cx="2011680" cy="80467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400" b="1">
                <a:solidFill>
                  <a:srgbClr val="2E6040"/>
                </a:solidFill>
                <a:latin typeface="Tahoma"/>
              </a:rPr>
              <a:t>Shops &amp; Social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407408"/>
            <a:ext cx="3291840" cy="80467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หน้าร้าน, ติดตามร้าน, แจ้งเตือนในแอป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349240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349240"/>
            <a:ext cx="91440" cy="841248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367527"/>
            <a:ext cx="2011680" cy="80467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400" b="1">
                <a:solidFill>
                  <a:srgbClr val="2E6040"/>
                </a:solidFill>
                <a:latin typeface="Tahoma"/>
              </a:rPr>
              <a:t>Support &amp; Admin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5367527"/>
            <a:ext cx="3291840" cy="80467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ติดต่อเรา/ตั๋วปัญหา, Admin Console: ตลาด, คำขอองค์กร, ระบบ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5349240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5349240"/>
            <a:ext cx="91440" cy="841248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5367527"/>
            <a:ext cx="2011680" cy="80467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400" b="1">
                <a:solidFill>
                  <a:srgbClr val="2E6040"/>
                </a:solidFill>
                <a:latin typeface="Tahoma"/>
              </a:rPr>
              <a:t>Impact &amp; Dashboard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5367527"/>
            <a:ext cx="3291840" cy="804672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สรุป กก. ที่ช่วยได้, CO₂e, รายได้, กราฟย้อนหลัง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1">
                <a:solidFill>
                  <a:srgbClr val="2E6040"/>
                </a:solidFill>
                <a:latin typeface="Tahoma"/>
              </a:rPr>
              <a:t>DATABASE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3000" b="1">
                <a:solidFill>
                  <a:srgbClr val="1B241C"/>
                </a:solidFill>
                <a:latin typeface="Tahoma"/>
              </a:rPr>
              <a:t>โครงสร้างข้อมูล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100" b="0">
                <a:solidFill>
                  <a:srgbClr val="56615A"/>
                </a:solidFill>
                <a:latin typeface="Tahoma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000" b="0">
                <a:solidFill>
                  <a:srgbClr val="56615A"/>
                </a:solidFill>
                <a:latin typeface="Tahoma"/>
              </a:rPr>
              <a:t>Agri-Rescue · System Analysis &amp;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3520440" cy="548640"/>
          </a:xfrm>
          <a:prstGeom prst="roundRect">
            <a:avLst>
              <a:gd name="adj" fmla="val 15000"/>
            </a:avLst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3520440" cy="5486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ahoma"/>
              </a:rPr>
              <a:t>ผู้ใช้/สิทธิ์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337560" cy="12801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users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buyer_profiles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shops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shop_follows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64592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79" y="1645920"/>
            <a:ext cx="3520440" cy="548640"/>
          </a:xfrm>
          <a:prstGeom prst="roundRect">
            <a:avLst>
              <a:gd name="adj" fmla="val 15000"/>
            </a:avLst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645920"/>
            <a:ext cx="3520440" cy="5486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ahoma"/>
              </a:rPr>
              <a:t>พืชและราคา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286000"/>
            <a:ext cx="3337560" cy="12801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crop_categories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crops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crop_season_factors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crop_reference_prices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dit_mapping_suggestions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64592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19" y="1645920"/>
            <a:ext cx="3520440" cy="548640"/>
          </a:xfrm>
          <a:prstGeom prst="roundRect">
            <a:avLst>
              <a:gd name="adj" fmla="val 15000"/>
            </a:avLst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1645920"/>
            <a:ext cx="3520440" cy="5486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ahoma"/>
              </a:rPr>
              <a:t>แปลงและล็อต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286000"/>
            <a:ext cx="3337560" cy="12801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plots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harvest_lots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lot_photos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quality_assessments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lot_edit_logs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lot_delete_logs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4048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3840480"/>
            <a:ext cx="3520440" cy="548640"/>
          </a:xfrm>
          <a:prstGeom prst="roundRect">
            <a:avLst>
              <a:gd name="adj" fmla="val 15000"/>
            </a:avLst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40480"/>
            <a:ext cx="3520440" cy="5486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ahoma"/>
              </a:rPr>
              <a:t>ซื้อขาย/ขนส่ง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80560"/>
            <a:ext cx="3337560" cy="12801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orders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payments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batches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route_stops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impact_logs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9" y="384048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97679" y="3840480"/>
            <a:ext cx="3520440" cy="548640"/>
          </a:xfrm>
          <a:prstGeom prst="roundRect">
            <a:avLst>
              <a:gd name="adj" fmla="val 15000"/>
            </a:avLst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79" y="3840480"/>
            <a:ext cx="3520440" cy="5486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ahoma"/>
              </a:rPr>
              <a:t>บริจาค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19" y="4480560"/>
            <a:ext cx="3337560" cy="12801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org_application_docs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org_review_logs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donation_proofs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donation_infractions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384048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19" y="3840480"/>
            <a:ext cx="3520440" cy="548640"/>
          </a:xfrm>
          <a:prstGeom prst="roundRect">
            <a:avLst>
              <a:gd name="adj" fmla="val 15000"/>
            </a:avLst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9" y="3840480"/>
            <a:ext cx="3520440" cy="5486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Tahoma"/>
              </a:rPr>
              <a:t>สื่อสาร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4480560"/>
            <a:ext cx="3337560" cy="12801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notifications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support_tickets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support_messages</a:t>
            </a:r>
          </a:p>
          <a:p>
            <a:pPr algn="l"/>
            <a:r>
              <a:rPr sz="1200" b="0">
                <a:solidFill>
                  <a:srgbClr val="1B241C"/>
                </a:solidFill>
                <a:latin typeface="Tahoma"/>
              </a:rPr>
              <a:t>support_attachments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300" b="0">
                <a:solidFill>
                  <a:srgbClr val="56615A"/>
                </a:solidFill>
                <a:latin typeface="Tahoma"/>
              </a:rPr>
              <a:t>ความสัมพันธ์หลัก: users 1–N plots 1–N harvest_lots 1–N orders 1–1 payments · harvest_lots 1–N lot_photos / quality_assessments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1">
                <a:solidFill>
                  <a:srgbClr val="2E6040"/>
                </a:solidFill>
                <a:latin typeface="Tahoma"/>
              </a:rPr>
              <a:t>STATE TRANSITIONS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3000" b="1">
                <a:solidFill>
                  <a:srgbClr val="1B241C"/>
                </a:solidFill>
                <a:latin typeface="Tahoma"/>
              </a:rPr>
              <a:t>สถานะของข้อมูลหลัก (State)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100" b="0">
                <a:solidFill>
                  <a:srgbClr val="56615A"/>
                </a:solidFill>
                <a:latin typeface="Tahoma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000" b="0">
                <a:solidFill>
                  <a:srgbClr val="56615A"/>
                </a:solidFill>
                <a:latin typeface="Tahoma"/>
              </a:rPr>
              <a:t>Agri-Rescue · System Analysis &amp;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F4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291840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ahoma"/>
              </a:rPr>
              <a:t>ล็อต (harvest_lots)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164592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1645920"/>
            <a:ext cx="7498079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500" b="0">
                <a:solidFill>
                  <a:srgbClr val="1B241C"/>
                </a:solidFill>
                <a:latin typeface="Tahoma"/>
              </a:rPr>
              <a:t>open → reserved → picked → delivered  |  open → expired (job ทุก 10 นาที)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4320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F4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3291840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ahoma"/>
              </a:rPr>
              <a:t>ออเดอร์ (orders)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274320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080" y="2743200"/>
            <a:ext cx="7498079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500" b="0">
                <a:solidFill>
                  <a:srgbClr val="1B241C"/>
                </a:solidFill>
                <a:latin typeface="Tahoma"/>
              </a:rPr>
              <a:t>reserved → picked → delivered  |  reserved → cancelled (ยกเลิก/หมดเวลาชำระ)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F4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3291840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ahoma"/>
              </a:rPr>
              <a:t>ชำระเงิน (payments)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384048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3840480"/>
            <a:ext cx="7498079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500" b="0">
                <a:solidFill>
                  <a:srgbClr val="1B241C"/>
                </a:solidFill>
                <a:latin typeface="Tahoma"/>
              </a:rPr>
              <a:t>pending → paid  |  pending → expired (คืนน้ำหนักเข้าล็อต)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59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F4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937759"/>
            <a:ext cx="3291840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ahoma"/>
              </a:rPr>
              <a:t>คำขอองค์กร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4937759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4937759"/>
            <a:ext cx="7498079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500" b="0">
                <a:solidFill>
                  <a:srgbClr val="1B241C"/>
                </a:solidFill>
                <a:latin typeface="Tahoma"/>
              </a:rPr>
              <a:t>pending → approved / rejected / needs_more_info → pending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300" b="0">
                <a:solidFill>
                  <a:srgbClr val="56615A"/>
                </a:solidFill>
                <a:latin typeface="Tahoma"/>
              </a:rPr>
              <a:t>ทุก state machine มีฟังก์ชัน transition เดียว ถ้าเปลี่ยนสถานะผิดลำดับระบบจะปฏิเสธ (ตอบ 409)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6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3657600" cy="13716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9600" b="1">
                <a:solidFill>
                  <a:srgbClr val="9CC3A6"/>
                </a:solidFill>
                <a:latin typeface="Tahom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058400" cy="9144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Tahoma"/>
              </a:rPr>
              <a:t>หน้าตา UI/UX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80560"/>
            <a:ext cx="100584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800" b="0">
                <a:solidFill>
                  <a:srgbClr val="E4EDE2"/>
                </a:solidFill>
                <a:latin typeface="Tahoma"/>
              </a:rPr>
              <a:t>User Interface &amp; Experience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1">
                <a:solidFill>
                  <a:srgbClr val="2E6040"/>
                </a:solidFill>
                <a:latin typeface="Tahoma"/>
              </a:rPr>
              <a:t>MENU STRUCTURE &amp;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3000" b="1">
                <a:solidFill>
                  <a:srgbClr val="1B241C"/>
                </a:solidFill>
                <a:latin typeface="Tahoma"/>
              </a:rPr>
              <a:t>โครงสร้างเมนูและการนำทาง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100" b="0">
                <a:solidFill>
                  <a:srgbClr val="56615A"/>
                </a:solidFill>
                <a:latin typeface="Tahoma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000" b="0">
                <a:solidFill>
                  <a:srgbClr val="56615A"/>
                </a:solidFill>
                <a:latin typeface="Tahoma"/>
              </a:rPr>
              <a:t>Agri-Rescue · System Analysis &amp;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108960" cy="777240"/>
          </a:xfrm>
          <a:prstGeom prst="roundRect">
            <a:avLst>
              <a:gd name="adj" fmla="val 8000"/>
            </a:avLst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10896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ahoma"/>
              </a:rPr>
              <a:t>ตลาด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554480"/>
            <a:ext cx="786384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500" b="0">
                <a:solidFill>
                  <a:srgbClr val="1B241C"/>
                </a:solidFill>
                <a:latin typeface="Tahoma"/>
              </a:rPr>
              <a:t>ค้นหา, แถบหมวด, ตัวกรอง (bottom sheet), การ์ดสินค้า 2 คอลัมน์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3108960" cy="777240"/>
          </a:xfrm>
          <a:prstGeom prst="roundRect">
            <a:avLst>
              <a:gd name="adj" fmla="val 8000"/>
            </a:avLst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310896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ahoma"/>
              </a:rPr>
              <a:t>ขาย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468880"/>
            <a:ext cx="786384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500" b="0">
                <a:solidFill>
                  <a:srgbClr val="1B241C"/>
                </a:solidFill>
                <a:latin typeface="Tahoma"/>
              </a:rPr>
              <a:t>เลือกพืช/แปลง → ถ่ายรูปให้ AI → ดูราคาแนะนำ → ลงประกาศ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3108960" cy="777240"/>
          </a:xfrm>
          <a:prstGeom prst="roundRect">
            <a:avLst>
              <a:gd name="adj" fmla="val 8000"/>
            </a:avLst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83280"/>
            <a:ext cx="310896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ahoma"/>
              </a:rPr>
              <a:t>คำสั่งซื้อ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383280"/>
            <a:ext cx="786384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500" b="0">
                <a:solidFill>
                  <a:srgbClr val="1B241C"/>
                </a:solidFill>
                <a:latin typeface="Tahoma"/>
              </a:rPr>
              <a:t>รายการจอง, ชำระเงิน, ดู OTP, เส้นทางไปรับของ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97680"/>
            <a:ext cx="3108960" cy="777240"/>
          </a:xfrm>
          <a:prstGeom prst="roundRect">
            <a:avLst>
              <a:gd name="adj" fmla="val 8000"/>
            </a:avLst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310896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ahoma"/>
              </a:rPr>
              <a:t>แจ้งเตือน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4297680"/>
            <a:ext cx="786384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500" b="0">
                <a:solidFill>
                  <a:srgbClr val="1B241C"/>
                </a:solidFill>
                <a:latin typeface="Tahoma"/>
              </a:rPr>
              <a:t>แจ้งเตือนในแอปพร้อมตัวเลขยังไม่อ่าน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12080"/>
            <a:ext cx="3108960" cy="777240"/>
          </a:xfrm>
          <a:prstGeom prst="roundRect">
            <a:avLst>
              <a:gd name="adj" fmla="val 8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212080"/>
            <a:ext cx="310896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ahoma"/>
              </a:rPr>
              <a:t>เมนูโปรไฟล์ (มุมขวาบน)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5212080"/>
            <a:ext cx="7863840" cy="77724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/>
            <a:r>
              <a:rPr sz="1500" b="0">
                <a:solidFill>
                  <a:srgbClr val="1B241C"/>
                </a:solidFill>
                <a:latin typeface="Tahoma"/>
              </a:rPr>
              <a:t>โปรไฟล์, ร้านของฉัน, แดชบอร์ด, ร้านที่ติดตาม, รับบริจาค, ติดต่อเรา, TH/EN, Admin, ออกจากระบบ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300" b="0">
                <a:solidFill>
                  <a:srgbClr val="56615A"/>
                </a:solidFill>
                <a:latin typeface="Tahoma"/>
              </a:rPr>
              <a:t>แถบแท็บล่าง 4 แท็บ + รูปโปรไฟล์มุมขวาบน · ยังไม่ login แสดงปุ่ม "เข้าสู่ระบบ" แทน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1">
                <a:solidFill>
                  <a:srgbClr val="2E6040"/>
                </a:solidFill>
                <a:latin typeface="Tahoma"/>
              </a:rPr>
              <a:t>DESIGN TOKENS &amp;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3000" b="1">
                <a:solidFill>
                  <a:srgbClr val="1B241C"/>
                </a:solidFill>
                <a:latin typeface="Tahoma"/>
              </a:rPr>
              <a:t>Design System และหลัก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100" b="0">
                <a:solidFill>
                  <a:srgbClr val="56615A"/>
                </a:solidFill>
                <a:latin typeface="Tahoma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000" b="0">
                <a:solidFill>
                  <a:srgbClr val="56615A"/>
                </a:solidFill>
                <a:latin typeface="Tahoma"/>
              </a:rPr>
              <a:t>Agri-Rescue · System Analysis &amp;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234440" cy="822960"/>
          </a:xfrm>
          <a:prstGeom prst="roundRect">
            <a:avLst>
              <a:gd name="adj" fmla="val 8000"/>
            </a:avLst>
          </a:prstGeom>
          <a:solidFill>
            <a:srgbClr val="F3F5EF"/>
          </a:solidFill>
          <a:ln w="12700">
            <a:solidFill>
              <a:srgbClr val="C9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87168"/>
            <a:ext cx="146304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1000" b="0">
                <a:solidFill>
                  <a:srgbClr val="56615A"/>
                </a:solidFill>
                <a:latin typeface="Tahoma"/>
              </a:rPr>
              <a:t>bg</a:t>
            </a:r>
          </a:p>
          <a:p>
            <a:pPr algn="ctr"/>
            <a:r>
              <a:rPr sz="1000" b="0">
                <a:solidFill>
                  <a:srgbClr val="56615A"/>
                </a:solidFill>
                <a:latin typeface="Tahoma"/>
              </a:rPr>
              <a:t>#F3F5EF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1645920"/>
            <a:ext cx="1234440" cy="822960"/>
          </a:xfrm>
          <a:prstGeom prst="roundRect">
            <a:avLst>
              <a:gd name="adj" fmla="val 8000"/>
            </a:avLst>
          </a:prstGeom>
          <a:solidFill>
            <a:srgbClr val="2E6040"/>
          </a:solidFill>
          <a:ln w="12700">
            <a:solidFill>
              <a:srgbClr val="C9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487168"/>
            <a:ext cx="146304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1000" b="0">
                <a:solidFill>
                  <a:srgbClr val="56615A"/>
                </a:solidFill>
                <a:latin typeface="Tahoma"/>
              </a:rPr>
              <a:t>leaf (หลัก)</a:t>
            </a:r>
          </a:p>
          <a:p>
            <a:pPr algn="ctr"/>
            <a:r>
              <a:rPr sz="1000" b="0">
                <a:solidFill>
                  <a:srgbClr val="56615A"/>
                </a:solidFill>
                <a:latin typeface="Tahoma"/>
              </a:rPr>
              <a:t>#2E6040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645920"/>
            <a:ext cx="1234440" cy="822960"/>
          </a:xfrm>
          <a:prstGeom prst="roundRect">
            <a:avLst>
              <a:gd name="adj" fmla="val 8000"/>
            </a:avLst>
          </a:prstGeom>
          <a:solidFill>
            <a:srgbClr val="1F4A30"/>
          </a:solidFill>
          <a:ln w="12700">
            <a:solidFill>
              <a:srgbClr val="C9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487168"/>
            <a:ext cx="146304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1000" b="0">
                <a:solidFill>
                  <a:srgbClr val="56615A"/>
                </a:solidFill>
                <a:latin typeface="Tahoma"/>
              </a:rPr>
              <a:t>leafDeep</a:t>
            </a:r>
          </a:p>
          <a:p>
            <a:pPr algn="ctr"/>
            <a:r>
              <a:rPr sz="1000" b="0">
                <a:solidFill>
                  <a:srgbClr val="56615A"/>
                </a:solidFill>
                <a:latin typeface="Tahoma"/>
              </a:rPr>
              <a:t>#1F4A30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645920"/>
            <a:ext cx="1234440" cy="822960"/>
          </a:xfrm>
          <a:prstGeom prst="roundRect">
            <a:avLst>
              <a:gd name="adj" fmla="val 8000"/>
            </a:avLst>
          </a:prstGeom>
          <a:solidFill>
            <a:srgbClr val="E4EDE2"/>
          </a:solidFill>
          <a:ln w="12700">
            <a:solidFill>
              <a:srgbClr val="C9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487168"/>
            <a:ext cx="146304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1000" b="0">
                <a:solidFill>
                  <a:srgbClr val="56615A"/>
                </a:solidFill>
                <a:latin typeface="Tahoma"/>
              </a:rPr>
              <a:t>leafSoft</a:t>
            </a:r>
          </a:p>
          <a:p>
            <a:pPr algn="ctr"/>
            <a:r>
              <a:rPr sz="1000" b="0">
                <a:solidFill>
                  <a:srgbClr val="56615A"/>
                </a:solidFill>
                <a:latin typeface="Tahoma"/>
              </a:rPr>
              <a:t>#E4EDE2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54680"/>
            <a:ext cx="1234440" cy="822960"/>
          </a:xfrm>
          <a:prstGeom prst="roundRect">
            <a:avLst>
              <a:gd name="adj" fmla="val 8000"/>
            </a:avLst>
          </a:prstGeom>
          <a:solidFill>
            <a:srgbClr val="A3231B"/>
          </a:solidFill>
          <a:ln w="12700">
            <a:solidFill>
              <a:srgbClr val="C9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95928"/>
            <a:ext cx="146304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1000" b="0">
                <a:solidFill>
                  <a:srgbClr val="56615A"/>
                </a:solidFill>
                <a:latin typeface="Tahoma"/>
              </a:rPr>
              <a:t>urgent</a:t>
            </a:r>
          </a:p>
          <a:p>
            <a:pPr algn="ctr"/>
            <a:r>
              <a:rPr sz="1000" b="0">
                <a:solidFill>
                  <a:srgbClr val="56615A"/>
                </a:solidFill>
                <a:latin typeface="Tahoma"/>
              </a:rPr>
              <a:t>#A3231B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3154680"/>
            <a:ext cx="1234440" cy="822960"/>
          </a:xfrm>
          <a:prstGeom prst="roundRect">
            <a:avLst>
              <a:gd name="adj" fmla="val 8000"/>
            </a:avLst>
          </a:prstGeom>
          <a:solidFill>
            <a:srgbClr val="C98A12"/>
          </a:solidFill>
          <a:ln w="12700">
            <a:solidFill>
              <a:srgbClr val="C9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74519" y="3995928"/>
            <a:ext cx="146304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1000" b="0">
                <a:solidFill>
                  <a:srgbClr val="56615A"/>
                </a:solidFill>
                <a:latin typeface="Tahoma"/>
              </a:rPr>
              <a:t>soon</a:t>
            </a:r>
          </a:p>
          <a:p>
            <a:pPr algn="ctr"/>
            <a:r>
              <a:rPr sz="1000" b="0">
                <a:solidFill>
                  <a:srgbClr val="56615A"/>
                </a:solidFill>
                <a:latin typeface="Tahoma"/>
              </a:rPr>
              <a:t>#C98A12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154680"/>
            <a:ext cx="1234440" cy="822960"/>
          </a:xfrm>
          <a:prstGeom prst="roundRect">
            <a:avLst>
              <a:gd name="adj" fmla="val 8000"/>
            </a:avLst>
          </a:prstGeom>
          <a:solidFill>
            <a:srgbClr val="1B241C"/>
          </a:solidFill>
          <a:ln w="12700">
            <a:solidFill>
              <a:srgbClr val="C9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3995928"/>
            <a:ext cx="146304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1000" b="0">
                <a:solidFill>
                  <a:srgbClr val="56615A"/>
                </a:solidFill>
                <a:latin typeface="Tahoma"/>
              </a:rPr>
              <a:t>ink</a:t>
            </a:r>
          </a:p>
          <a:p>
            <a:pPr algn="ctr"/>
            <a:r>
              <a:rPr sz="1000" b="0">
                <a:solidFill>
                  <a:srgbClr val="56615A"/>
                </a:solidFill>
                <a:latin typeface="Tahoma"/>
              </a:rPr>
              <a:t>#1B241C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3154680"/>
            <a:ext cx="1234440" cy="822960"/>
          </a:xfrm>
          <a:prstGeom prst="roundRect">
            <a:avLst>
              <a:gd name="adj" fmla="val 8000"/>
            </a:avLst>
          </a:prstGeom>
          <a:solidFill>
            <a:srgbClr val="56615A"/>
          </a:solidFill>
          <a:ln w="12700">
            <a:solidFill>
              <a:srgbClr val="C9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3995928"/>
            <a:ext cx="146304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1000" b="0">
                <a:solidFill>
                  <a:srgbClr val="56615A"/>
                </a:solidFill>
                <a:latin typeface="Tahoma"/>
              </a:rPr>
              <a:t>mute</a:t>
            </a:r>
          </a:p>
          <a:p>
            <a:pPr algn="ctr"/>
            <a:r>
              <a:rPr sz="1000" b="0">
                <a:solidFill>
                  <a:srgbClr val="56615A"/>
                </a:solidFill>
                <a:latin typeface="Tahoma"/>
              </a:rPr>
              <a:t>#56615A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5486400" cy="10972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600" b="1">
                <a:solidFill>
                  <a:srgbClr val="1B241C"/>
                </a:solidFill>
                <a:latin typeface="Tahoma"/>
              </a:rPr>
              <a:t>Aa  Anuphan (หัวข้อ)</a:t>
            </a:r>
          </a:p>
          <a:p>
            <a:pPr algn="l"/>
            <a:r>
              <a:rPr sz="1600" b="1">
                <a:solidFill>
                  <a:srgbClr val="1B241C"/>
                </a:solidFill>
                <a:latin typeface="Tahoma"/>
              </a:rPr>
              <a:t>Aa  IBM Plex Sans Thai (เนื้อหา)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1773936"/>
            <a:ext cx="128016" cy="128016"/>
          </a:xfrm>
          <a:prstGeom prst="ellipse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1645920"/>
            <a:ext cx="5074920" cy="71323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400" b="0">
                <a:solidFill>
                  <a:srgbClr val="1B241C"/>
                </a:solidFill>
                <a:latin typeface="Tahoma"/>
              </a:rPr>
              <a:t>ฟอนต์หัวข้อ Anuphan / เนื้อหา IBM Plex Sans Thai อ่านภาษาไทยชัด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2487168"/>
            <a:ext cx="128016" cy="128016"/>
          </a:xfrm>
          <a:prstGeom prst="ellipse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359152"/>
            <a:ext cx="5074920" cy="71323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400" b="0">
                <a:solidFill>
                  <a:srgbClr val="1B241C"/>
                </a:solidFill>
                <a:latin typeface="Tahoma"/>
              </a:rPr>
              <a:t>จุดกดทุกจุด ≥ 44×44 pt เหมาะกับผู้ใช้สูงวัยในชุมชน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3200400"/>
            <a:ext cx="128016" cy="128016"/>
          </a:xfrm>
          <a:prstGeom prst="ellipse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072384"/>
            <a:ext cx="5074920" cy="71323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400" b="0">
                <a:solidFill>
                  <a:srgbClr val="1B241C"/>
                </a:solidFill>
                <a:latin typeface="Tahoma"/>
              </a:rPr>
              <a:t>สีไม่ใช่ตัวบอกความหมายอย่างเดียว — ป้ายเวลามีไอคอนนาฬิกา + ข้อความเสมอ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3913631"/>
            <a:ext cx="128016" cy="128016"/>
          </a:xfrm>
          <a:prstGeom prst="ellipse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785615"/>
            <a:ext cx="5074920" cy="71323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400" b="0">
                <a:solidFill>
                  <a:srgbClr val="1B241C"/>
                </a:solidFill>
                <a:latin typeface="Tahoma"/>
              </a:rPr>
              <a:t>รองรับ Safe Area ของ iPhone รุ่นใหม่ ไม่ hardcode ระยะ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4626864"/>
            <a:ext cx="128016" cy="128016"/>
          </a:xfrm>
          <a:prstGeom prst="ellipse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4498848"/>
            <a:ext cx="5074920" cy="71323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400" b="0">
                <a:solidFill>
                  <a:srgbClr val="1B241C"/>
                </a:solidFill>
                <a:latin typeface="Tahoma"/>
              </a:rPr>
              <a:t>ดูตลาดได้โดยไม่ต้องเข้าสู่ระบบ ลดแรงเสียดทานผู้ใช้ใหม่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0" y="5340096"/>
            <a:ext cx="128016" cy="128016"/>
          </a:xfrm>
          <a:prstGeom prst="ellipse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5212080"/>
            <a:ext cx="5074920" cy="713232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400" b="0">
                <a:solidFill>
                  <a:srgbClr val="1B241C"/>
                </a:solidFill>
                <a:latin typeface="Tahoma"/>
              </a:rPr>
              <a:t>สองภาษา ไทย/อังกฤษ ทั้งระบบ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1">
                <a:solidFill>
                  <a:srgbClr val="2E6040"/>
                </a:solidFill>
                <a:latin typeface="Tahoma"/>
              </a:rPr>
              <a:t>APP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3000" b="1">
                <a:solidFill>
                  <a:srgbClr val="1B241C"/>
                </a:solidFill>
                <a:latin typeface="Tahoma"/>
              </a:rPr>
              <a:t>ตัวอย่างหน้าจอจริง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100" b="0">
                <a:solidFill>
                  <a:srgbClr val="56615A"/>
                </a:solidFill>
                <a:latin typeface="Tahoma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000" b="0">
                <a:solidFill>
                  <a:srgbClr val="56615A"/>
                </a:solidFill>
                <a:latin typeface="Tahoma"/>
              </a:rPr>
              <a:t>Agri-Rescue · System Analysis &amp; Design</a:t>
            </a:r>
          </a:p>
        </p:txBody>
      </p:sp>
      <p:pic>
        <p:nvPicPr>
          <p:cNvPr id="7" name="Picture 6" descr="market-guest-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2112654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59" y="5943600"/>
            <a:ext cx="27432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1200" b="0">
                <a:solidFill>
                  <a:srgbClr val="56615A"/>
                </a:solidFill>
                <a:latin typeface="Tahoma"/>
              </a:rPr>
              <a:t>ตลาด — ผู้ไม่เข้าสู่ระบบ</a:t>
            </a:r>
          </a:p>
        </p:txBody>
      </p:sp>
      <p:pic>
        <p:nvPicPr>
          <p:cNvPr id="9" name="Picture 8" descr="market-logged-in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371600"/>
            <a:ext cx="2112654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49040" y="5943600"/>
            <a:ext cx="27432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1200" b="0">
                <a:solidFill>
                  <a:srgbClr val="56615A"/>
                </a:solidFill>
                <a:latin typeface="Tahoma"/>
              </a:rPr>
              <a:t>ตลาด — เข้าสู่ระบบแล้ว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463040"/>
            <a:ext cx="448056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800" b="1">
                <a:solidFill>
                  <a:srgbClr val="2E6040"/>
                </a:solidFill>
                <a:latin typeface="Tahoma"/>
              </a:rPr>
              <a:t>หน้าจอหลักทั้งหมด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011680"/>
            <a:ext cx="4480560" cy="41148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500" b="0">
                <a:solidFill>
                  <a:srgbClr val="1B241C"/>
                </a:solidFill>
                <a:latin typeface="Tahoma"/>
              </a:rPr>
              <a:t>• เข้าสู่ระบบ / สมัคร (เลือกขาย-ซื้อ)</a:t>
            </a:r>
          </a:p>
          <a:p>
            <a:pPr algn="l"/>
            <a:r>
              <a:rPr sz="1500" b="0">
                <a:solidFill>
                  <a:srgbClr val="1B241C"/>
                </a:solidFill>
                <a:latin typeface="Tahoma"/>
              </a:rPr>
              <a:t>• ตลาด + ตัวกรอง + รายละเอียดล็อต</a:t>
            </a:r>
          </a:p>
          <a:p>
            <a:pPr algn="l"/>
            <a:r>
              <a:rPr sz="1500" b="0">
                <a:solidFill>
                  <a:srgbClr val="1B241C"/>
                </a:solidFill>
                <a:latin typeface="Tahoma"/>
              </a:rPr>
              <a:t>• ลงล็อต + AI ประเมินรูป</a:t>
            </a:r>
          </a:p>
          <a:p>
            <a:pPr algn="l"/>
            <a:r>
              <a:rPr sz="1500" b="0">
                <a:solidFill>
                  <a:srgbClr val="1B241C"/>
                </a:solidFill>
                <a:latin typeface="Tahoma"/>
              </a:rPr>
              <a:t>• คำสั่งซื้อ / ชำระเงิน / OTP</a:t>
            </a:r>
          </a:p>
          <a:p>
            <a:pPr algn="l"/>
            <a:r>
              <a:rPr sz="1500" b="0">
                <a:solidFill>
                  <a:srgbClr val="1B241C"/>
                </a:solidFill>
                <a:latin typeface="Tahoma"/>
              </a:rPr>
              <a:t>• หน้าร้าน + ร้านที่ติดตาม</a:t>
            </a:r>
          </a:p>
          <a:p>
            <a:pPr algn="l"/>
            <a:r>
              <a:rPr sz="1500" b="0">
                <a:solidFill>
                  <a:srgbClr val="1B241C"/>
                </a:solidFill>
                <a:latin typeface="Tahoma"/>
              </a:rPr>
              <a:t>• แจ้งเตือน · โปรไฟล์ · แดชบอร์ด</a:t>
            </a:r>
          </a:p>
          <a:p>
            <a:pPr algn="l"/>
            <a:r>
              <a:rPr sz="1500" b="0">
                <a:solidFill>
                  <a:srgbClr val="1B241C"/>
                </a:solidFill>
                <a:latin typeface="Tahoma"/>
              </a:rPr>
              <a:t>• สมัครรับบริจาค · ติดต่อเรา</a:t>
            </a:r>
          </a:p>
          <a:p>
            <a:pPr algn="l"/>
            <a:r>
              <a:rPr sz="1500" b="0">
                <a:solidFill>
                  <a:srgbClr val="1B241C"/>
                </a:solidFill>
                <a:latin typeface="Tahoma"/>
              </a:rPr>
              <a:t>• Admin Console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6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3657600" cy="13716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9600" b="1">
                <a:solidFill>
                  <a:srgbClr val="9CC3A6"/>
                </a:solidFill>
                <a:latin typeface="Tahom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058400" cy="9144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Tahoma"/>
              </a:rPr>
              <a:t>เทคโนโลยีที่เลือกใช้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80560"/>
            <a:ext cx="100584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800" b="0">
                <a:solidFill>
                  <a:srgbClr val="E4EDE2"/>
                </a:solidFill>
                <a:latin typeface="Tahoma"/>
              </a:rPr>
              <a:t>Technology Stack &amp; AI Integration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1">
                <a:solidFill>
                  <a:srgbClr val="2E6040"/>
                </a:solidFill>
                <a:latin typeface="Tahoma"/>
              </a:rPr>
              <a:t>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3000" b="1">
                <a:solidFill>
                  <a:srgbClr val="1B241C"/>
                </a:solidFill>
                <a:latin typeface="Tahoma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100" b="0">
                <a:solidFill>
                  <a:srgbClr val="56615A"/>
                </a:solidFill>
                <a:latin typeface="Tahoma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000" b="0">
                <a:solidFill>
                  <a:srgbClr val="56615A"/>
                </a:solidFill>
                <a:latin typeface="Tahoma"/>
              </a:rPr>
              <a:t>Agri-Rescue · System Analysis &amp; Design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120640"/>
                <a:gridCol w="429768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ส่วน</a:t>
                      </a:r>
                    </a:p>
                  </a:txBody>
                  <a:tcPr>
                    <a:solidFill>
                      <a:srgbClr val="1F4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เทคโนโลยี</a:t>
                      </a:r>
                    </a:p>
                  </a:txBody>
                  <a:tcPr>
                    <a:solidFill>
                      <a:srgbClr val="1F4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ahoma"/>
                        </a:rPr>
                        <a:t>เหตุผลที่เลือก</a:t>
                      </a:r>
                    </a:p>
                  </a:txBody>
                  <a:tcPr>
                    <a:solidFill>
                      <a:srgbClr val="1F4A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41C"/>
                          </a:solidFill>
                          <a:latin typeface="Tahoma"/>
                        </a:rPr>
                        <a:t>Frontend</a:t>
                      </a:r>
                    </a:p>
                  </a:txBody>
                  <a:tcPr>
                    <a:solidFill>
                      <a:srgbClr val="E4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241C"/>
                          </a:solidFill>
                          <a:latin typeface="Tahoma"/>
                        </a:rPr>
                        <a:t>React Native 0.86 + Expo SDK 57, Expo Router, TypeScript</a:t>
                      </a:r>
                    </a:p>
                  </a:txBody>
                  <a:tcPr>
                    <a:solidFill>
                      <a:srgbClr val="E4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241C"/>
                          </a:solidFill>
                          <a:latin typeface="Tahoma"/>
                        </a:rPr>
                        <a:t>เขียนครั้งเดียวได้ iOS/Android/Web, ทดสอบบนเครื่องจริงผ่าน Expo Go</a:t>
                      </a:r>
                    </a:p>
                  </a:txBody>
                  <a:tcPr>
                    <a:solidFill>
                      <a:srgbClr val="E4EDE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41C"/>
                          </a:solidFill>
                          <a:latin typeface="Tahoma"/>
                        </a:rPr>
                        <a:t>UI libs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241C"/>
                          </a:solidFill>
                          <a:latin typeface="Tahoma"/>
                        </a:rPr>
                        <a:t>@expo/vector-icons (Feather), gifted-charts, expo-location, image-picker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241C"/>
                          </a:solidFill>
                          <a:latin typeface="Tahoma"/>
                        </a:rPr>
                        <a:t>ไอคอนเส้น, กราฟแดชบอร์ด, พิกัด, ถ่ายรูป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41C"/>
                          </a:solidFill>
                          <a:latin typeface="Tahoma"/>
                        </a:rPr>
                        <a:t>Backend</a:t>
                      </a:r>
                    </a:p>
                  </a:txBody>
                  <a:tcPr>
                    <a:solidFill>
                      <a:srgbClr val="E4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241C"/>
                          </a:solidFill>
                          <a:latin typeface="Tahoma"/>
                        </a:rPr>
                        <a:t>Node.js 22 + Express 4 + TypeScript</a:t>
                      </a:r>
                    </a:p>
                  </a:txBody>
                  <a:tcPr>
                    <a:solidFill>
                      <a:srgbClr val="E4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241C"/>
                          </a:solidFill>
                          <a:latin typeface="Tahoma"/>
                        </a:rPr>
                        <a:t>ecosystem ใหญ่, ภาษาเดียวกับ frontend</a:t>
                      </a:r>
                    </a:p>
                  </a:txBody>
                  <a:tcPr>
                    <a:solidFill>
                      <a:srgbClr val="E4EDE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41C"/>
                          </a:solidFill>
                          <a:latin typeface="Tahoma"/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241C"/>
                          </a:solidFill>
                          <a:latin typeface="Tahoma"/>
                        </a:rPr>
                        <a:t>JWT, bcryptjs, Zod, express-rate-limit, expo-secure-store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241C"/>
                          </a:solidFill>
                          <a:latin typeface="Tahoma"/>
                        </a:rPr>
                        <a:t>ยืนยันตัวตน, ตรวจข้อมูลเข้า, กันยิงซ้ำ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41C"/>
                          </a:solidFill>
                          <a:latin typeface="Tahoma"/>
                        </a:rPr>
                        <a:t>Database</a:t>
                      </a:r>
                    </a:p>
                  </a:txBody>
                  <a:tcPr>
                    <a:solidFill>
                      <a:srgbClr val="E4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241C"/>
                          </a:solidFill>
                          <a:latin typeface="Tahoma"/>
                        </a:rPr>
                        <a:t>MySQL 8 (mysql2), migration แบบ SQL</a:t>
                      </a:r>
                    </a:p>
                  </a:txBody>
                  <a:tcPr>
                    <a:solidFill>
                      <a:srgbClr val="E4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241C"/>
                          </a:solidFill>
                          <a:latin typeface="Tahoma"/>
                        </a:rPr>
                        <a:t>ตรงกับเซิร์ฟเวอร์มหาวิทยาลัย, ทำ ER/Normalization ได้ชัด</a:t>
                      </a:r>
                    </a:p>
                  </a:txBody>
                  <a:tcPr>
                    <a:solidFill>
                      <a:srgbClr val="E4EDE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41C"/>
                          </a:solidFill>
                          <a:latin typeface="Tahoma"/>
                        </a:rPr>
                        <a:t>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241C"/>
                          </a:solidFill>
                          <a:latin typeface="Tahoma"/>
                        </a:rPr>
                        <a:t>Vision LLM ผ่าน API แบบ OpenAI-compatible (ค่าเริ่มต้น mimo-v2.6-flash)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241C"/>
                          </a:solidFill>
                          <a:latin typeface="Tahoma"/>
                        </a:rPr>
                        <a:t>สลับผู้ให้บริการได้, ตอบเป็น JSON 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41C"/>
                          </a:solidFill>
                          <a:latin typeface="Tahoma"/>
                        </a:rPr>
                        <a:t>External API</a:t>
                      </a:r>
                    </a:p>
                  </a:txBody>
                  <a:tcPr>
                    <a:solidFill>
                      <a:srgbClr val="E4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241C"/>
                          </a:solidFill>
                          <a:latin typeface="Tahoma"/>
                        </a:rPr>
                        <a:t>Open-Meteo, MOC/DIT Open Data</a:t>
                      </a:r>
                    </a:p>
                  </a:txBody>
                  <a:tcPr>
                    <a:solidFill>
                      <a:srgbClr val="E4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241C"/>
                          </a:solidFill>
                          <a:latin typeface="Tahoma"/>
                        </a:rPr>
                        <a:t>อากาศจริงและราคาตลาดจริง ฟรี</a:t>
                      </a:r>
                    </a:p>
                  </a:txBody>
                  <a:tcPr>
                    <a:solidFill>
                      <a:srgbClr val="E4EDE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41C"/>
                          </a:solidFill>
                          <a:latin typeface="Tahoma"/>
                        </a:rPr>
                        <a:t>Dev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241C"/>
                          </a:solidFill>
                          <a:latin typeface="Tahoma"/>
                        </a:rPr>
                        <a:t>Git/GitHub (PR ต่อขั้น), Jest + Supertest (231+ tests), ESLint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241C"/>
                          </a:solidFill>
                          <a:latin typeface="Tahoma"/>
                        </a:rPr>
                        <a:t>คุมคุณภาพก่อน merge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41C"/>
                          </a:solidFill>
                          <a:latin typeface="Tahoma"/>
                        </a:rPr>
                        <a:t>Deploy</a:t>
                      </a:r>
                    </a:p>
                  </a:txBody>
                  <a:tcPr>
                    <a:solidFill>
                      <a:srgbClr val="E4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241C"/>
                          </a:solidFill>
                          <a:latin typeface="Tahoma"/>
                        </a:rPr>
                        <a:t>VPS (Node + MySQL), เซิร์ฟเวอร์มหาวิทยาลัยสำรอง</a:t>
                      </a:r>
                    </a:p>
                  </a:txBody>
                  <a:tcPr>
                    <a:solidFill>
                      <a:srgbClr val="E4ED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241C"/>
                          </a:solidFill>
                          <a:latin typeface="Tahoma"/>
                        </a:rPr>
                        <a:t>เดโมบนมือถือจริงได้</a:t>
                      </a:r>
                    </a:p>
                  </a:txBody>
                  <a:tcPr>
                    <a:solidFill>
                      <a:srgbClr val="E4ED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1">
                <a:solidFill>
                  <a:srgbClr val="2E6040"/>
                </a:solidFill>
                <a:latin typeface="Tahoma"/>
              </a:rPr>
              <a:t>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3000" b="1">
                <a:solidFill>
                  <a:srgbClr val="1B241C"/>
                </a:solidFill>
                <a:latin typeface="Tahoma"/>
              </a:rPr>
              <a:t>การนำ AI มาใช้ในระบบ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100" b="0">
                <a:solidFill>
                  <a:srgbClr val="56615A"/>
                </a:solidFill>
                <a:latin typeface="Tahoma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000" b="0">
                <a:solidFill>
                  <a:srgbClr val="56615A"/>
                </a:solidFill>
                <a:latin typeface="Tahoma"/>
              </a:rPr>
              <a:t>Agri-Rescue · System Analysis &amp;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6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42316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800" b="1">
                <a:solidFill>
                  <a:srgbClr val="2E6040"/>
                </a:solidFill>
                <a:latin typeface="Tahoma"/>
              </a:rPr>
              <a:t>1. ถ่ายรูป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423160" cy="15544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400" b="0">
                <a:solidFill>
                  <a:srgbClr val="1B241C"/>
                </a:solidFill>
                <a:latin typeface="Tahoma"/>
              </a:rPr>
              <a:t>เกษตรกรถ่าย/เลือกรูปผลผลิต (≤5MB)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3736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6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828800"/>
            <a:ext cx="242316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800" b="1">
                <a:solidFill>
                  <a:srgbClr val="2E6040"/>
                </a:solidFill>
                <a:latin typeface="Tahoma"/>
              </a:rPr>
              <a:t>2. Vision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68880"/>
            <a:ext cx="2423160" cy="15544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400" b="0">
                <a:solidFill>
                  <a:srgbClr val="1B241C"/>
                </a:solidFill>
                <a:latin typeface="Tahoma"/>
              </a:rPr>
              <a:t>ส่งรูป + ชื่อพืช บังคับตอบเป็น JSON schema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6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828800"/>
            <a:ext cx="242316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800" b="1">
                <a:solidFill>
                  <a:srgbClr val="2E6040"/>
                </a:solidFill>
                <a:latin typeface="Tahoma"/>
              </a:rPr>
              <a:t>3. ผลประเมิน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468880"/>
            <a:ext cx="2423160" cy="15544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400" b="0">
                <a:solidFill>
                  <a:srgbClr val="1B241C"/>
                </a:solidFill>
                <a:latin typeface="Tahoma"/>
              </a:rPr>
              <a:t>ripeness 0–4, confidence, defects, subject_match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73736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6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828800"/>
            <a:ext cx="2423160" cy="5486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800" b="1">
                <a:solidFill>
                  <a:srgbClr val="2E6040"/>
                </a:solidFill>
                <a:latin typeface="Tahoma"/>
              </a:rPr>
              <a:t>4. คำนวณ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468880"/>
            <a:ext cx="2423160" cy="15544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400" b="0">
                <a:solidFill>
                  <a:srgbClr val="1B241C"/>
                </a:solidFill>
                <a:latin typeface="Tahoma"/>
              </a:rPr>
              <a:t>shelf-life × อากาศ → ราคาด่วน = max(ต่ำสุด, เริ่ม×(0.3+0.7×ความสด))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89120"/>
            <a:ext cx="11064240" cy="1554480"/>
          </a:xfrm>
          <a:prstGeom prst="roundRect">
            <a:avLst>
              <a:gd name="adj" fmla="val 8000"/>
            </a:avLst>
          </a:prstGeom>
          <a:solidFill>
            <a:srgbClr val="E4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10698480" cy="13716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500" b="0">
                <a:solidFill>
                  <a:srgbClr val="1F4A30"/>
                </a:solidFill>
                <a:latin typeface="Tahoma"/>
              </a:rPr>
              <a:t>ประโยชน์: ลดการกรอกข้อมูล · ราคาสอดคล้องคุณภาพจริง · ใช้รูปยืนยันการรับบริจาคป้องกันการทุจริต</a:t>
            </a:r>
          </a:p>
          <a:p>
            <a:pPr algn="l"/>
            <a:r>
              <a:rPr sz="1500" b="0">
                <a:solidFill>
                  <a:srgbClr val="1F4A30"/>
                </a:solidFill>
                <a:latin typeface="Tahoma"/>
              </a:rPr>
              <a:t>ความปลอดภัย: confidence &lt; 0.6 ให้คนยืนยัน · AI ล้มเหลวหรือหมดเวลา ระบบยังใช้งานได้ (เลือกความสุกเอง)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200" b="1">
                <a:solidFill>
                  <a:srgbClr val="2E6040"/>
                </a:solidFill>
                <a:latin typeface="Tahoma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3000" b="1">
                <a:solidFill>
                  <a:srgbClr val="1B241C"/>
                </a:solidFill>
                <a:latin typeface="Tahoma"/>
              </a:rPr>
              <a:t>สรุป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r"/>
            <a:r>
              <a:rPr sz="1100" b="0">
                <a:solidFill>
                  <a:srgbClr val="56615A"/>
                </a:solidFill>
                <a:latin typeface="Tahoma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000" b="0">
                <a:solidFill>
                  <a:srgbClr val="56615A"/>
                </a:solidFill>
                <a:latin typeface="Tahoma"/>
              </a:rPr>
              <a:t>Agri-Rescue · System Analysis &amp; Design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65376"/>
            <a:ext cx="128016" cy="128016"/>
          </a:xfrm>
          <a:prstGeom prst="ellipse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10561320" cy="9601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900" b="0">
                <a:solidFill>
                  <a:srgbClr val="1B241C"/>
                </a:solidFill>
                <a:latin typeface="Tahoma"/>
              </a:rPr>
              <a:t>Agri-Rescue เปลี่ยนผลผลิตที่จะถูกทิ้งให้เป็นรายได้และอาหารให้ชุมชน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25496"/>
            <a:ext cx="128016" cy="128016"/>
          </a:xfrm>
          <a:prstGeom prst="ellipse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61320" cy="9601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900" b="0">
                <a:solidFill>
                  <a:srgbClr val="1B241C"/>
                </a:solidFill>
                <a:latin typeface="Tahoma"/>
              </a:rPr>
              <a:t>ออกแบบเป็น 3-tier ชัดเจน แยก domain logic เป็น pure function ที่ทดสอบได้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785615"/>
            <a:ext cx="128016" cy="128016"/>
          </a:xfrm>
          <a:prstGeom prst="ellipse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10561320" cy="9601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900" b="0">
                <a:solidFill>
                  <a:srgbClr val="1B241C"/>
                </a:solidFill>
                <a:latin typeface="Tahoma"/>
              </a:rPr>
              <a:t>AI + ข้อมูลอากาศ + ราคาตลาดจริง ช่วยตัดสินใจราคาโดยอัตโนมัติ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745736"/>
            <a:ext cx="128016" cy="128016"/>
          </a:xfrm>
          <a:prstGeom prst="ellipse">
            <a:avLst/>
          </a:prstGeom>
          <a:solidFill>
            <a:srgbClr val="2E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17720"/>
            <a:ext cx="10561320" cy="9601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900" b="0">
                <a:solidFill>
                  <a:srgbClr val="1B241C"/>
                </a:solidFill>
                <a:latin typeface="Tahoma"/>
              </a:rPr>
              <a:t>แผนต่อไป: payment gateway จริง, push notification, escrow, ระบบขนส่งรวมรอบ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Tahoma"/>
              </a:rPr>
              <a:t>ขอบคุณครับ / ค่ะ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ctr"/>
            <a:r>
              <a:rPr sz="2800" b="0">
                <a:solidFill>
                  <a:srgbClr val="BFD6C2"/>
                </a:solidFill>
                <a:latin typeface="Tahoma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